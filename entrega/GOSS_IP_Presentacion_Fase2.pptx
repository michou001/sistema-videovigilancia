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(15 s) Buenos días. Somos el equipo GOSS IP. [Cada integrante dice su nombre y su rol.]</a:t>
            </a:r>
          </a:p>
          <a:p>
            <a:r>
              <a:t>GOSS IP es un sistema de videovigilancia que no se queda en grabar: detecta lo que importa y le avisa al monitorista a tiempo.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(50 s) El problema no es que falten cámaras: es que casi nadie las está mirando en el momento en que pasa algo.</a:t>
            </a:r>
          </a:p>
          <a:p>
            <a:r>
              <a:t>Un monitorista tiene muchas pantallas al mismo tiempo; lo importante pasa en una mientras mira otra.</a:t>
            </a:r>
          </a:p>
          <a:p>
            <a:r>
              <a:t>Por eso el video casi siempre se usa después: para reconstruir qué pasó, no para reaccionar.</a:t>
            </a:r>
          </a:p>
          <a:p>
            <a:r>
              <a:t>Y buscar una placa o un momento en días de grabación es trabajo manual de horas.</a:t>
            </a:r>
          </a:p>
          <a:p>
            <a:r>
              <a:t>Esto pasa en los accesos de una universidad, en un estacionamiento o en una calle que vigila un centro de monitoreo como los C5.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(40 s) El usuario principal es el monitorista: la persona frente a las pantallas. Todo el diseño parte de él: una alerta tiene que decirle qué pasó, dónde, mostrarle la foto y el clip, y dejarle atenderla con un folio.</a:t>
            </a:r>
          </a:p>
          <a:p>
            <a:r>
              <a:t>El responsable de seguridad configura: lista negra, reglas por horario, reportes; y todo lo que hace queda en una bitácora.</a:t>
            </a:r>
          </a:p>
          <a:p>
            <a:r>
              <a:t>El instalador o el área de TI da de alta las cámaras desde el navegador, sin línea de comandos.</a:t>
            </a:r>
          </a:p>
          <a:p>
            <a:r>
              <a:t>Y los beneficiarios son estudiantes, personal y visitantes: una respuesta más rápida, con su privacidad cuidada desde el diseño.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(60 s) La propuesta de valor es simple: convertir video en alertas que se pueden atender.</a:t>
            </a:r>
          </a:p>
          <a:p>
            <a:r>
              <a:t>GOSS IP detecta, cruza contra la lista negra y las reglas, y cuando algo amerita, genera una alerta con folio, foto, clip de los segundos antes y después, y el punto en el mapa. El operador la atiende y deja una nota.</a:t>
            </a:r>
          </a:p>
          <a:p>
            <a:r>
              <a:t>Lo que nos distingue: leemos placas mexicanas con su formato oficial (corregimos errores del OCR por posición y decimos tipo y entidad); todo corre en la red local, el video no sale del sitio; funciona con las cámaras que ya existen; la privacidad está en el diseño (no guardamos rostros de quien no está en la lista negra); y cada alerta dice por qué salió.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(50 s) Cómo funciona. La cámara manda su video por RTSP a un nodo de borde con GPU. Ahí corren los modelos: placas, rostros, movimiento y pose.</a:t>
            </a:r>
          </a:p>
          <a:p>
            <a:r>
              <a:t>El borde no decide qué es una alerta: solo reporta "vi esto, con esta confianza". La API, que tiene la base de datos, cruza contra la lista negra y las reglas por horario y decide la severidad. Por eso se cambia la lista negra o una regla sin tocar las cámaras.</a:t>
            </a:r>
          </a:p>
          <a:p>
            <a:r>
              <a:t>El dashboard recibe todo en tiempo real por WebSocket; el video se ve por WebRTC o MJPEG.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(60 s) Estos son los módulos y su estado real. Decimos lo que funciona y lo que falta.</a:t>
            </a:r>
          </a:p>
          <a:p>
            <a:r>
              <a:t>Placas: funcionando, 35 de 35 lecturas en pruebas con ángulos, distancia y poca luz.</a:t>
            </a:r>
          </a:p>
          <a:p>
            <a:r>
              <a:t>Lista negra con vigencia, y al dar de alta una placa el sistema revisa el pasado.</a:t>
            </a:r>
          </a:p>
          <a:p>
            <a:r>
              <a:t>Rostros: funciona, pero el umbral es el de fábrica; falta calibrarlo con personas reales y su consentimiento.</a:t>
            </a:r>
          </a:p>
          <a:p>
            <a:r>
              <a:t>Pose: caída, manos arriba y posible agresión, probado con el modelo; falta validarlo en campo.</a:t>
            </a:r>
          </a:p>
          <a:p>
            <a:r>
              <a:t>Zonas con horario: intrusión, cruce de línea, merodeo y conteo.</a:t>
            </a:r>
          </a:p>
          <a:p>
            <a:r>
              <a:t>La cámara misma: si la tapan, la mueven o se cae, avisa.</a:t>
            </a:r>
          </a:p>
          <a:p>
            <a:r>
              <a:t>Y armas: lo tenemos apagado. Lo probamos con un cuchillo real y no lo detectó; no vamos a presentar como función algo que no es confiable.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(60 s) Esto lo construimos en el Bootcamp: el catálogo de cámaras. Antes, dar de alta una cámara era trabajo de terminal.</a:t>
            </a:r>
          </a:p>
          <a:p>
            <a:r>
              <a:t>Ahora, desde el navegador: uno, buscar en la red, sin mandar contraseñas: ONVIF, puertos y la huella del fabricante.</a:t>
            </a:r>
          </a:p>
          <a:p>
            <a:r>
              <a:t>Dos, diagnosticar: marca, modelo, firmware, cada stream con su codec y resolución, y una vista previa. La contraseña se prueba una sola vez: las Hikvision bloquean la IP tras unos cinco intentos fallidos.</a:t>
            </a:r>
          </a:p>
          <a:p>
            <a:r>
              <a:t>Tres, recomendar: con la altura, la distancia y el lente, el sistema calcula cuántos píxeles mide una placa o un rostro y dice qué puede hacer esa cámara y qué no, con reglas explicables, no con una IA que opine.</a:t>
            </a:r>
          </a:p>
          <a:p>
            <a:r>
              <a:t>Cuatro, dar de alta: configura el worker y lo inicia desde el navegador.</a:t>
            </a:r>
          </a:p>
          <a:p>
            <a:r>
              <a:t>Cada dato dice de dónde salió: de la cámara, del instalador o de una regla nuestra. Y si el router le cambia la IP a la cámara, la reconoce por su número de serie.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(50 s) Así lo vemos en un campus. Las cámaras de cada acceso mandan su video a un nodo de borde con GPU cercano. Cada nodo atiende sus cámaras y reporta a un servidor central con la base de datos, la lista negra y las reglas. El centro de monitoreo ve todo en el navegador, y las alertas críticas llegan al celular del responsable.</a:t>
            </a:r>
          </a:p>
          <a:p>
            <a:r>
              <a:t>Todo corre en la red local: el video no sale del campus.</a:t>
            </a:r>
          </a:p>
          <a:p>
            <a:r>
              <a:t>Para crecer no hay que cambiar nada: se agregan nodos. Lo medimos: un nodo como esta laptop atiende dos cámaras con los cuatro detectores; más si la cámara solo lee placas.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(50 s) Seguridad: tres roles, y el sistema decide los permisos en el servidor, no en la pantalla. Todo cambio queda en la bitácora: quién, qué y cuándo. HTTPS, contraseñas cifradas con bcrypt, sesiones que se pueden revocar, y la evidencia solo se ve con sesión. La contraseña de una cámara nunca aparece en un log.</a:t>
            </a:r>
          </a:p>
          <a:p>
            <a:r>
              <a:t>Privacidad: trabajamos con la Ley Federal de Protección de Datos Personales. Los rostros son datos sensibles: para dar de alta a alguien hay que declarar el fundamento legal. Los rostros de quien no está en la lista negra nunca se guardan. Y la evidencia se borra sola según su plazo.</a:t>
            </a:r>
          </a:p>
          <a:p>
            <a:r>
              <a:t>En un despliegue real hace falta un aviso de privacidad visible donde hay cámaras.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(70 s) Lo que medimos, con números reales.</a:t>
            </a:r>
          </a:p>
          <a:p>
            <a:r>
              <a:t>Placas: 35 de 35 lecturas correctas en fotos de prueba de lado, desde arriba, lejos y con poca luz; con el modelo anterior eran 20 de 35.</a:t>
            </a:r>
          </a:p>
          <a:p>
            <a:r>
              <a:t>Rendimiento: en esta laptop, con una RTX 4050, el sistema analiza unos 17 cuadros por segundo con los cuatro detectores. Con 8 por cámara, dos cámaras por nodo.</a:t>
            </a:r>
          </a:p>
          <a:p>
            <a:r>
              <a:t>Y un hallazgo: con cuatro cámaras en un solo proceso, la GPU quedaba al 34 % y el total bajaba a 11 cuadros por segundo; el límite era Python, no la GPU. Con un proceso por cámara subió a 18, 67 % más. Por eso el catálogo inicia un proceso por cámara.</a:t>
            </a:r>
          </a:p>
          <a:p>
            <a:r>
              <a:t>Tenemos 267 pruebas automáticas que corren en Windows y Linux en cada cambio.</a:t>
            </a:r>
          </a:p>
          <a:p>
            <a:r>
              <a:t>Y en operación con la cámara real, una caída se detectó y se recuperó en 30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 s para presentarla, luego la demo de 4 minutos) Ahora lo mostramos en vivo. Vamos a seguir esta ruta.</a:t>
            </a:r>
          </a:p>
          <a:p>
            <a:r>
              <a:t>[Responsable de la demo: ____. Responsable de narrar: ____.]</a:t>
            </a:r>
          </a:p>
          <a:p>
            <a:r>
              <a:t>Si algo falla: Plan B, el mismo sistema con un video local como cámara; Plan C, el registro de alertas del ensayo con sus fotos y clips.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(50 s) ¿Cuánto cuesta un piloto? Con precios publicados hoy en tiendas en línea: dos cámaras como la nuestra, una Hikvision de 6 megapíxeles, a 2,304 pesos cada una; un nodo con GPU como esta laptop, entre 17 y 26 mil pesos. En total, entre 21 y 31 mil pesos de equipo, más switch, cableado e instalación, que hay que cotizar en sitio.</a:t>
            </a:r>
          </a:p>
          <a:p>
            <a:r>
              <a:t>El software es nuestro. Para uso comercial hay que resolver dos licencias de modelos, que explicamos en próximos pasos.</a:t>
            </a:r>
          </a:p>
          <a:p>
            <a:r>
              <a:t>Para crecer: un nodo más por cada dos cámaras con todo activo, o más cámaras por nodo si solo leen placas; la API escala con PostgreSQL y Redis y se despliega con Docker.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(40 s) Próximos pasos. Primero, un piloto en un acceso real de un campus, con su aviso de privacidad.</a:t>
            </a:r>
          </a:p>
          <a:p>
            <a:r>
              <a:t>Calibrar el umbral de rostros con personas reales que den su consentimiento.</a:t>
            </a:r>
          </a:p>
          <a:p>
            <a:r>
              <a:t>Entrenar nuestro propio modelo de armas: el sistema ya junta los datos, con las alertas que califican los operadores.</a:t>
            </a:r>
          </a:p>
          <a:p>
            <a:r>
              <a:t>Resolver las licencias para uso comercial: YOLO es AGPL, así que o publicamos el código o compramos la licencia Enterprise; y el modelo de rostros que usamos es de uso no comercial, existe una alternativa con licencia Apache.</a:t>
            </a:r>
          </a:p>
          <a:p>
            <a:r>
              <a:t>Y la integración con centros de monitoreo como los C5.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(15 s) GOSS IP: cada cámara, un par de ojos que no se cansa. Gracias; con gusto respondemos sus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para la versión de 20 minutos o para preguntas sobre placas.</a:t>
            </a:r>
          </a:p>
          <a:p>
            <a:r>
              <a:t>El alcance depende del lente más que del modelo. La placa tiene que medir al menos 36 píxeles de ancho para leerse; con el stream principal de 3200 píxeles y lente de 4 mm eso es hasta 15 metros de frente. Para instalar pedimos el doble de margen.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del recomendador de instalación. La norma IEC 62676-4 define niveles por píxeles por metro: detección 25, observación 62.5, reconocimiento 125, identificación 250. Lo combinamos con nuestros umbrales medidos: placa 36 px y rostro 50 px, y pedimos el doble para instalar.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del plan de contingencia. Lo tenemos ensayado.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ansparent over 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234440"/>
            <a:ext cx="4206240" cy="42062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0" y="1737360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0">
                <a:solidFill>
                  <a:srgbClr val="EEF3F8"/>
                </a:solidFill>
                <a:latin typeface="Segoe UI Semibold"/>
              </a:rPr>
              <a:t>GOSS 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2880360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6CC8F5"/>
                </a:solidFill>
                <a:latin typeface="Segoe UI"/>
              </a:rPr>
              <a:t>Videovigilancia que avisa a tiempo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3657600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Placas mexicanas · personas en lista negra · caídas y posturas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zonas con horario · cámaras saboteadas o caídas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521208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Reto InnovaTIC's UAEMéx 2026 · Fase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557784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9AA9BC"/>
                </a:solidFill>
                <a:latin typeface="Segoe UI"/>
              </a:rPr>
              <a:t>Equipo GOSS IP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Las cámaras graban; casi nadie las está mirando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El problema no es tener cámaras: es enterarse a tiempo de lo que pasa en ellas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3566160" cy="228600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2F6FED"/>
                </a:solidFill>
                <a:latin typeface="Segoe UI Semibold"/>
              </a:rPr>
              <a:t>Demasiadas pantallas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06040"/>
            <a:ext cx="3108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EEF3F8"/>
                </a:solidFill>
                <a:latin typeface="Segoe UI"/>
              </a:rPr>
              <a:t>Un monitorista vigila muchas cámaras a la vez. Lo importante pasa en una mientras mira otra.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920240"/>
            <a:ext cx="3566160" cy="228600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21031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6CC8F5"/>
                </a:solidFill>
                <a:latin typeface="Segoe UI Semibold"/>
              </a:rPr>
              <a:t>El video se revisa después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606040"/>
            <a:ext cx="3108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EEF3F8"/>
                </a:solidFill>
                <a:latin typeface="Segoe UI"/>
              </a:rPr>
              <a:t>Sin avisos, la grabación sirve para reconstruir lo que pasó, no para reaccionar a tiempo.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3296" y="1920240"/>
            <a:ext cx="3566160" cy="228600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0A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1896" y="21031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F0A83A"/>
                </a:solidFill>
                <a:latin typeface="Segoe UI Semibold"/>
              </a:rPr>
              <a:t>Buscar cuesta horas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1896" y="2606040"/>
            <a:ext cx="3108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EEF3F8"/>
                </a:solidFill>
                <a:latin typeface="Segoe UI"/>
              </a:rPr>
              <a:t>Encontrar una placa o un momento en días de video se hace a mano, cuadro por cuadro.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EF3F8"/>
                </a:solidFill>
                <a:latin typeface="Segoe UI Semibold"/>
              </a:rPr>
              <a:t>Dónde pasa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Accesos de un campus, estacionamientos y calles que vigila un centro de monitoreo (tipo C5): lugares con muchas cámaras y pocas personas mirándolas.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Para quién 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Usuarios y beneficiarios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440680" cy="19659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2F6FED"/>
                </a:solidFill>
                <a:latin typeface="Segoe UI Semibold"/>
              </a:rPr>
              <a:t>Monitorista · usuario principal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498348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EF3F8"/>
                </a:solidFill>
                <a:latin typeface="Segoe UI"/>
              </a:rPr>
              <a:t>Recibe la alerta con foto, clip y ubicación en el mapa. La atiende con un folio y deja nota.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83080"/>
            <a:ext cx="5440680" cy="19659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96596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6CC8F5"/>
                </a:solidFill>
                <a:latin typeface="Segoe UI Semibold"/>
              </a:rPr>
              <a:t>Responsable de seguridad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468880"/>
            <a:ext cx="498348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EF3F8"/>
                </a:solidFill>
                <a:latin typeface="Segoe UI"/>
              </a:rPr>
              <a:t>Administra lista negra y reglas por horario, revisa reportes y la bitácora de auditoría.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5440680" cy="19659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11480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34D399"/>
                </a:solidFill>
                <a:latin typeface="Segoe UI Semibold"/>
              </a:rPr>
              <a:t>Instalador / 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17720"/>
            <a:ext cx="498348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EF3F8"/>
                </a:solidFill>
                <a:latin typeface="Segoe UI"/>
              </a:rPr>
              <a:t>Da de alta cámaras desde el navegador y sabe qué puede hacer cada una antes de instalarla.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3931920"/>
            <a:ext cx="5440680" cy="19659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0A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411480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F0A83A"/>
                </a:solidFill>
                <a:latin typeface="Segoe UI Semibold"/>
              </a:rPr>
              <a:t>Comunidad · beneficiarios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4617720"/>
            <a:ext cx="498348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EF3F8"/>
                </a:solidFill>
                <a:latin typeface="Segoe UI"/>
              </a:rPr>
              <a:t>Estudiantes, personal y visitantes: respuesta más rápida, con privacidad desde el diseño.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Video convertido en alertas que se pueden atender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2468880" cy="132588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6CC8F5"/>
                </a:solidFill>
                <a:latin typeface="Segoe UI Semibold"/>
              </a:rPr>
              <a:t>Detecta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placas, personas, posturas, zonas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35808" y="1920240"/>
            <a:ext cx="347472" cy="292608"/>
          </a:xfrm>
          <a:prstGeom prst="rightArrow">
            <a:avLst/>
          </a:prstGeom>
          <a:solidFill>
            <a:srgbClr val="6CC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01568" y="1417320"/>
            <a:ext cx="2468880" cy="132588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15544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2F6FED"/>
                </a:solidFill>
                <a:latin typeface="Segoe UI Semibold"/>
              </a:rPr>
              <a:t>Decide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4448" y="205740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lista negra y reglas por horario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88736" y="1920240"/>
            <a:ext cx="347472" cy="292608"/>
          </a:xfrm>
          <a:prstGeom prst="rightArrow">
            <a:avLst/>
          </a:prstGeom>
          <a:solidFill>
            <a:srgbClr val="6CC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54496" y="1417320"/>
            <a:ext cx="2468880" cy="132588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376" y="15544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6CC8F5"/>
                </a:solidFill>
                <a:latin typeface="Segoe UI Semibold"/>
              </a:rPr>
              <a:t>Avisa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05740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folio, foto, clip y mapa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741664" y="1920240"/>
            <a:ext cx="347472" cy="292608"/>
          </a:xfrm>
          <a:prstGeom prst="rightArrow">
            <a:avLst/>
          </a:prstGeom>
          <a:solidFill>
            <a:srgbClr val="6CC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07424" y="1417320"/>
            <a:ext cx="2468880" cy="132588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0303" y="15544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2F6FED"/>
                </a:solidFill>
                <a:latin typeface="Segoe UI Semibold"/>
              </a:rPr>
              <a:t>Atiende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0303" y="205740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el operador cierra con nota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063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EF3F8"/>
                </a:solidFill>
                <a:latin typeface="Segoe UI Semibold"/>
              </a:rPr>
              <a:t>Qué lo distingue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566160"/>
            <a:ext cx="110642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500">
                <a:solidFill>
                  <a:srgbClr val="6CC8F5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 Semibold"/>
              </a:rPr>
              <a:t>Placas mexicanas: </a:t>
            </a:r>
            <a:r>
              <a:rPr sz="1500">
                <a:solidFill>
                  <a:srgbClr val="EEF3F8"/>
                </a:solidFill>
                <a:latin typeface="Segoe UI"/>
              </a:rPr>
              <a:t>formatos NOM-001-SCT-2-2016; corrige errores del OCR por posición y dice tipo y entidad.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500">
                <a:solidFill>
                  <a:srgbClr val="6CC8F5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 Semibold"/>
              </a:rPr>
              <a:t>Corre en la red local: </a:t>
            </a:r>
            <a:r>
              <a:rPr sz="1500">
                <a:solidFill>
                  <a:srgbClr val="EEF3F8"/>
                </a:solidFill>
                <a:latin typeface="Segoe UI"/>
              </a:rPr>
              <a:t>el video no sale del sitio; si se cae la red, los eventos se guardan y se envían después.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500">
                <a:solidFill>
                  <a:srgbClr val="6CC8F5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 Semibold"/>
              </a:rPr>
              <a:t>Usa las cámaras que ya existen: </a:t>
            </a:r>
            <a:r>
              <a:rPr sz="1500">
                <a:solidFill>
                  <a:srgbClr val="EEF3F8"/>
                </a:solidFill>
                <a:latin typeface="Segoe UI"/>
              </a:rPr>
              <a:t>RTSP, ONVIF y los eventos propios de Hikvision (ISAPI).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500">
                <a:solidFill>
                  <a:srgbClr val="6CC8F5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 Semibold"/>
              </a:rPr>
              <a:t>Privacidad desde el diseño: </a:t>
            </a:r>
            <a:r>
              <a:rPr sz="1500">
                <a:solidFill>
                  <a:srgbClr val="EEF3F8"/>
                </a:solidFill>
                <a:latin typeface="Segoe UI"/>
              </a:rPr>
              <a:t>los rostros de quien no está en la lista negra nunca se guardan.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500">
                <a:solidFill>
                  <a:srgbClr val="6CC8F5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 Semibold"/>
              </a:rPr>
              <a:t>Reglas explicables: </a:t>
            </a:r>
            <a:r>
              <a:rPr sz="1500">
                <a:solidFill>
                  <a:srgbClr val="EEF3F8"/>
                </a:solidFill>
                <a:latin typeface="Segoe UI"/>
              </a:rPr>
              <a:t>cada alerta dice por qué salió; una coincidencia dudosa nunca se presenta como hecho.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Cómo funciona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El borde reporta; la API decide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468880" cy="17373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93392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6CC8F5"/>
                </a:solidFill>
                <a:latin typeface="Segoe UI Semibold"/>
              </a:rPr>
              <a:t>Cámara 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Hikvision, ONVIF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o cualquier RTSP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35808" y="2560320"/>
            <a:ext cx="347472" cy="292608"/>
          </a:xfrm>
          <a:prstGeom prst="rightArrow">
            <a:avLst/>
          </a:prstGeom>
          <a:solidFill>
            <a:srgbClr val="6CC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01568" y="1828800"/>
            <a:ext cx="2468880" cy="17373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4448" y="1993392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2F6FED"/>
                </a:solidFill>
                <a:latin typeface="Segoe UI Semibold"/>
              </a:rPr>
              <a:t>Nodo de borde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2514600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GPU: placas, rostros,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movimiento, pose, zonas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888736" y="2560320"/>
            <a:ext cx="347472" cy="292608"/>
          </a:xfrm>
          <a:prstGeom prst="rightArrow">
            <a:avLst/>
          </a:prstGeom>
          <a:solidFill>
            <a:srgbClr val="6CC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54496" y="1828800"/>
            <a:ext cx="2468880" cy="17373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6" y="1993392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34D399"/>
                </a:solidFill>
                <a:latin typeface="Segoe UI Semibold"/>
              </a:rPr>
              <a:t>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2514600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Lista negra, reglas,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severidad, bitácora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41664" y="2560320"/>
            <a:ext cx="347472" cy="292608"/>
          </a:xfrm>
          <a:prstGeom prst="rightArrow">
            <a:avLst/>
          </a:prstGeom>
          <a:solidFill>
            <a:srgbClr val="6CC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07424" y="1828800"/>
            <a:ext cx="2468880" cy="17373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0A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90303" y="1993392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F0A83A"/>
                </a:solidFill>
                <a:latin typeface="Segoe UI Semibold"/>
              </a:rPr>
              <a:t>Dashboard y avisos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0303" y="2514600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Monitoreo, registro,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mapa, Telegram, correo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977639"/>
            <a:ext cx="110642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500">
                <a:solidFill>
                  <a:srgbClr val="6CC8F5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"/>
              </a:rPr>
              <a:t>Un vehículo = un evento: el sistema sigue al objeto y reporta cuando sale de escena, con la mejor lectura.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500">
                <a:solidFill>
                  <a:srgbClr val="6CC8F5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"/>
              </a:rPr>
              <a:t>Si la API se cae, el borde guarda los eventos en disco y los reenvía al volver: no se pierde nada.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500">
                <a:solidFill>
                  <a:srgbClr val="6CC8F5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"/>
              </a:rPr>
              <a:t>Python · YOLO11 · YOLOv9 + OCR de placas · InsightFace · FastAPI · SQLite o PostgreSQL · WebRTC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Qué detecta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Estado real de cada módulo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Placas mexicanas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9385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34D399"/>
                </a:solidFill>
                <a:latin typeface="Segoe UI Semibold"/>
              </a:rPr>
              <a:t>Funciona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35/35 lecturas en pruebas de ángulo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78308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8848" y="192024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Lista negra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7" y="19385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34D399"/>
                </a:solidFill>
                <a:latin typeface="Segoe UI Semibold"/>
              </a:rPr>
              <a:t>Funciona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37744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Con vigencia y revisión del pasado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178308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0A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5" y="192024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Rostros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49256" y="19385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F0A83A"/>
                </a:solidFill>
                <a:latin typeface="Segoe UI Semibold"/>
              </a:rPr>
              <a:t>Funciona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5" y="237744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Solo lista negra · umbral por calibrar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4612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383279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Movimiento súbito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340156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34D399"/>
                </a:solidFill>
                <a:latin typeface="Segoe UI Semibold"/>
              </a:rPr>
              <a:t>Funciona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4048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Velocidad relativa al cuerpo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5968" y="324612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0A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8848" y="3383279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Caída y posturas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1927" y="340156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F0A83A"/>
                </a:solidFill>
                <a:latin typeface="Segoe UI Semibold"/>
              </a:rPr>
              <a:t>Validar en campo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384048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Caída, manos arriba, agresión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83296" y="324612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6175" y="3383279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Zonas con horario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49256" y="340156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34D399"/>
                </a:solidFill>
                <a:latin typeface="Segoe UI Semibold"/>
              </a:rPr>
              <a:t>Funciona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6175" y="384048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Intrusión, cruce, merodeo, conteo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70916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8463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Cámara vigilada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14600" y="486460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34D399"/>
                </a:solidFill>
                <a:latin typeface="Segoe UI Semibold"/>
              </a:rPr>
              <a:t>Funciona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30352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Tapada, movida o sin señal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5968" y="470916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98848" y="48463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Clips y avisos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81927" y="486460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34D399"/>
                </a:solidFill>
                <a:latin typeface="Segoe UI Semibold"/>
              </a:rPr>
              <a:t>Funciona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98848" y="530352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Telegram, correo, WhatsApp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3296" y="470916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F5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66175" y="48463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Armas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49256" y="486460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FF5A6A"/>
                </a:solidFill>
                <a:latin typeface="Segoe UI Semibold"/>
              </a:rPr>
              <a:t>Apagado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66175" y="530352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No detectó en prueba real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Nuevo en el Bootcamp: catálogo de cámaras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Dar de alta una cámara ya no es trabajo de terminal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6675120" cy="86868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0195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2F6FED"/>
                </a:solidFill>
                <a:latin typeface="Segoe UI Semibold"/>
              </a:rPr>
              <a:t>1  Buscar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192024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ONVIF, puertos y huella del fabricante. No manda contraseñas.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07208"/>
            <a:ext cx="6675120" cy="86868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6CC8F5"/>
                </a:solidFill>
                <a:latin typeface="Segoe UI Semibold"/>
              </a:rPr>
              <a:t>2  Diagnosticar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944368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Marca, modelo, streams, codec y vista previa. Contraseña una sola vez.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31336"/>
            <a:ext cx="6675120" cy="86868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9502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2F6FED"/>
                </a:solidFill>
                <a:latin typeface="Segoe UI Semibold"/>
              </a:rPr>
              <a:t>3  Recomendar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968496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Altura, distancia y lente → píxeles de placa y rostro, nivel DORI.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55464"/>
            <a:ext cx="6675120" cy="86868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97433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6CC8F5"/>
                </a:solidFill>
                <a:latin typeface="Segoe UI Semibold"/>
              </a:rPr>
              <a:t>4  Dar de alta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4992624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Configura el worker y lo inicia desde el navegador.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1783080"/>
            <a:ext cx="4114800" cy="393192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19659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34D399"/>
                </a:solidFill>
                <a:latin typeface="Segoe UI Semibold"/>
              </a:rPr>
              <a:t>Sin afirmar lo que no sabe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37033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300">
                <a:solidFill>
                  <a:srgbClr val="34D399"/>
                </a:solidFill>
                <a:latin typeface="Segoe UI"/>
              </a:rPr>
              <a:t>▪  </a:t>
            </a:r>
            <a:r>
              <a:rPr sz="1300">
                <a:solidFill>
                  <a:srgbClr val="EEF3F8"/>
                </a:solidFill>
                <a:latin typeface="Segoe UI"/>
              </a:rPr>
              <a:t>Cada dato dice su fuente: la cámara (ISAPI, ONVIF), el instalador o una regla de GOSS.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300">
                <a:solidFill>
                  <a:srgbClr val="34D399"/>
                </a:solidFill>
                <a:latin typeface="Segoe UI"/>
              </a:rPr>
              <a:t>▪  </a:t>
            </a:r>
            <a:r>
              <a:rPr sz="1300">
                <a:solidFill>
                  <a:srgbClr val="EEF3F8"/>
                </a:solidFill>
                <a:latin typeface="Segoe UI"/>
              </a:rPr>
              <a:t>Estados: identificada, parcial o manual.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300">
                <a:solidFill>
                  <a:srgbClr val="34D399"/>
                </a:solidFill>
                <a:latin typeface="Segoe UI"/>
              </a:rPr>
              <a:t>▪  </a:t>
            </a:r>
            <a:r>
              <a:rPr sz="1300">
                <a:solidFill>
                  <a:srgbClr val="EEF3F8"/>
                </a:solidFill>
                <a:latin typeface="Segoe UI"/>
              </a:rPr>
              <a:t>Reconoce una cámara aunque el router le cambie la IP (serie y MAC).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300">
                <a:solidFill>
                  <a:srgbClr val="34D399"/>
                </a:solidFill>
                <a:latin typeface="Segoe UI"/>
              </a:rPr>
              <a:t>▪  </a:t>
            </a:r>
            <a:r>
              <a:rPr sz="1300">
                <a:solidFill>
                  <a:srgbClr val="EEF3F8"/>
                </a:solidFill>
                <a:latin typeface="Segoe UI"/>
              </a:rPr>
              <a:t>Avisa si el stream va en H.265 y el navegador no lo mostraría por WebRTC.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8</a:t>
            </a:r>
          </a:p>
        </p:txBody>
      </p:sp>
      <p:pic>
        <p:nvPicPr>
          <p:cNvPr id="4" name="Picture 3" descr="10-arquitec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0040"/>
            <a:ext cx="11064240" cy="640591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Seguridad y privacidad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Diseñado con la LFPDPPP en mente desde el principio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440680" cy="42062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2F6FED"/>
                </a:solidFill>
                <a:latin typeface="Segoe UI Semibold"/>
              </a:rPr>
              <a:t>Seguridad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50292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2F6FED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"/>
              </a:rPr>
              <a:t>Roles: Consulta, Operador y Administrador; los permisos los decide el servidor.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2F6FED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"/>
              </a:rPr>
              <a:t>Bitácora de auditoría de todo cambio y búsqueda.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2F6FED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"/>
              </a:rPr>
              <a:t>HTTPS, contraseñas con bcrypt, sesiones revocables.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2F6FED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"/>
              </a:rPr>
              <a:t>La evidencia (fotos, clips, video) solo se ve con sesión.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2F6FED"/>
                </a:solidFill>
                <a:latin typeface="Segoe UI"/>
              </a:rPr>
              <a:t>▪  </a:t>
            </a:r>
            <a:r>
              <a:rPr sz="1500">
                <a:solidFill>
                  <a:srgbClr val="EEF3F8"/>
                </a:solidFill>
                <a:latin typeface="Segoe UI"/>
              </a:rPr>
              <a:t>La contraseña de la cámara nunca va a un log.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83080"/>
            <a:ext cx="5440680" cy="42062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965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34D399"/>
                </a:solidFill>
                <a:latin typeface="Segoe UI Semibold"/>
              </a:rPr>
              <a:t>Privacidad: borrado automático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28232" y="2468880"/>
          <a:ext cx="4983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15544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Dato</a:t>
                      </a:r>
                    </a:p>
                  </a:txBody>
                  <a:tcPr marL="91440" marR="91440" marT="36576" marB="36576" anchor="ctr">
                    <a:solidFill>
                      <a:srgbClr val="34D39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Se conserva</a:t>
                      </a:r>
                    </a:p>
                  </a:txBody>
                  <a:tcPr marL="91440" marR="91440" marT="36576" marB="36576" anchor="ctr">
                    <a:solidFill>
                      <a:srgbClr val="34D39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Fotos de eventos sin coincidencia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7 días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Eventos sin coincidencia (texto)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30 días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Clips de alertas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90 días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Alertas y su evidencia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1 año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Rostros de quien no está en lista negra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Nunca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28232" y="484632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9BC"/>
                </a:solidFill>
                <a:latin typeface="Segoe UI"/>
              </a:rPr>
              <a:t>Dar de alta a una persona exige declarar el fundamento legal. Aviso de privacidad visible donde haya cámaras.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Lo que medimos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Números del propio sistema, no estimaciones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651760" cy="21488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01952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0">
                <a:solidFill>
                  <a:srgbClr val="34D399"/>
                </a:solidFill>
                <a:latin typeface="Segoe UI Semibold"/>
              </a:rPr>
              <a:t>35/35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2286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lecturas de placa de lado, desde arriba, lejos y con poca luz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747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Antes: 20/35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1737360"/>
            <a:ext cx="2651760" cy="21488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8728" y="1901952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0">
                <a:solidFill>
                  <a:srgbClr val="6CC8F5"/>
                </a:solidFill>
                <a:latin typeface="Segoe UI Semibold"/>
              </a:rPr>
              <a:t>~17 fps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651760"/>
            <a:ext cx="2286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analizados por nodo (RTX 4050) con 4 detectores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34747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2 cámaras a 8 fps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1737360"/>
            <a:ext cx="2651760" cy="21488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1901952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0">
                <a:solidFill>
                  <a:srgbClr val="2F6FED"/>
                </a:solidFill>
                <a:latin typeface="Segoe UI Semibold"/>
              </a:rPr>
              <a:t>267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651760"/>
            <a:ext cx="2286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pruebas automáticas en Windows y Linux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34747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En cada cambio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0264" y="1737360"/>
            <a:ext cx="2651760" cy="21488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0A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3144" y="1901952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0">
                <a:solidFill>
                  <a:srgbClr val="F0A83A"/>
                </a:solidFill>
                <a:latin typeface="Segoe UI Semibold"/>
              </a:rPr>
              <a:t>30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44" y="2651760"/>
            <a:ext cx="2286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F3F8"/>
                </a:solidFill>
                <a:latin typeface="Segoe UI"/>
              </a:rPr>
              <a:t>cámara caída detectada y recuperada (registro real)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14800"/>
            <a:ext cx="11064240" cy="19202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B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27939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6CC8F5"/>
                </a:solidFill>
                <a:latin typeface="Segoe UI Semibold"/>
              </a:rPr>
              <a:t>Medimos, encontramos un límite y cambiamos el diseño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777240" y="4754880"/>
          <a:ext cx="1060704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011680"/>
                <a:gridCol w="2377440"/>
                <a:gridCol w="1645920"/>
                <a:gridCol w="1920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4 cámaras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fps por cámara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Total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GPU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VRAM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En 1 proceso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2.8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11 fps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34 %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2.0 GB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En 4 procesos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4.6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18 fps (+67 %)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77 %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3.2 GB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Demo en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Ruta ensayada · 4 minutos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746504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EEF3F8"/>
                </a:solidFill>
                <a:latin typeface="Segoe UI Semibold"/>
              </a:rPr>
              <a:t>Cámaras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1764792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9BC"/>
                </a:solidFill>
                <a:latin typeface="Segoe UI"/>
              </a:rPr>
              <a:t>Buscar y diagnosticar la cámara del stand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313432"/>
            <a:ext cx="457200" cy="45720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7744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EEF3F8"/>
                </a:solidFill>
                <a:latin typeface="Segoe UI Semibold"/>
              </a:rPr>
              <a:t>Recomendación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386584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9BC"/>
                </a:solidFill>
                <a:latin typeface="Segoe UI"/>
              </a:rPr>
              <a:t>Qué puede hacer según su altura y lente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2935224"/>
            <a:ext cx="457200" cy="45720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99923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990088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EEF3F8"/>
                </a:solidFill>
                <a:latin typeface="Segoe UI Semibold"/>
              </a:rPr>
              <a:t>Monitoreo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3008376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9BC"/>
                </a:solidFill>
                <a:latin typeface="Segoe UI"/>
              </a:rPr>
              <a:t>Video en vivo con las detecciones dibujadas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557016"/>
            <a:ext cx="457200" cy="45720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621024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611880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EEF3F8"/>
                </a:solidFill>
                <a:latin typeface="Segoe UI Semibold"/>
              </a:rPr>
              <a:t>Placa en lista negra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3630168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9BC"/>
                </a:solidFill>
                <a:latin typeface="Segoe UI"/>
              </a:rPr>
              <a:t>Alerta crítica con folio, foto y clip</a:t>
            </a:r>
          </a:p>
        </p:txBody>
      </p:sp>
      <p:sp>
        <p:nvSpPr>
          <p:cNvPr id="22" name="Oval 21"/>
          <p:cNvSpPr/>
          <p:nvPr/>
        </p:nvSpPr>
        <p:spPr>
          <a:xfrm>
            <a:off x="548640" y="4178808"/>
            <a:ext cx="457200" cy="45720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24281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233672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EEF3F8"/>
                </a:solidFill>
                <a:latin typeface="Segoe UI Semibold"/>
              </a:rPr>
              <a:t>Zona con horario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425196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9BC"/>
                </a:solidFill>
                <a:latin typeface="Segoe UI"/>
              </a:rPr>
              <a:t>Alguien entra a la zona → intrusión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4800600"/>
            <a:ext cx="457200" cy="45720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86460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855464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EEF3F8"/>
                </a:solidFill>
                <a:latin typeface="Segoe UI Semibold"/>
              </a:rPr>
              <a:t>Cámara caída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39" y="4873752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9BC"/>
                </a:solidFill>
                <a:latin typeface="Segoe UI"/>
              </a:rPr>
              <a:t>Se desconecta → aviso → se recupera</a:t>
            </a:r>
          </a:p>
        </p:txBody>
      </p:sp>
      <p:sp>
        <p:nvSpPr>
          <p:cNvPr id="30" name="Oval 29"/>
          <p:cNvSpPr/>
          <p:nvPr/>
        </p:nvSpPr>
        <p:spPr>
          <a:xfrm>
            <a:off x="548640" y="5422392"/>
            <a:ext cx="457200" cy="45720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4864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477255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EEF3F8"/>
                </a:solidFill>
                <a:latin typeface="Segoe UI Semibold"/>
              </a:rPr>
              <a:t>Registro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5495544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9BC"/>
                </a:solidFill>
                <a:latin typeface="Segoe UI"/>
              </a:rPr>
              <a:t>Buscar la placa y descargar el reporte</a:t>
            </a:r>
          </a:p>
        </p:txBody>
      </p:sp>
      <p:pic>
        <p:nvPicPr>
          <p:cNvPr id="34" name="Picture 33" descr="placa_ZTP48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828800"/>
            <a:ext cx="3383280" cy="1691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229600" y="365760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AA9BC"/>
                </a:solidFill>
                <a:latin typeface="Segoe UI"/>
              </a:rPr>
              <a:t>Placa de prueba de la demo: serie sin estado asignado, no corresponde a un vehículo real.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0" y="4572000"/>
            <a:ext cx="3383280" cy="141732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0A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12480" y="468172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0A83A"/>
                </a:solidFill>
                <a:latin typeface="Segoe UI Semibold"/>
              </a:rPr>
              <a:t>Si algo falla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502920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EEF3F8"/>
                </a:solidFill>
                <a:latin typeface="Segoe UI"/>
              </a:rPr>
              <a:t>Plan B: video local como cámara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EEF3F8"/>
                </a:solidFill>
                <a:latin typeface="Segoe UI"/>
              </a:rPr>
              <a:t>Plan C: alertas y clips del ensayo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Escalabilidad y costo de un piloto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Un acceso vehicular y uno peatonal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69494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63440"/>
                <a:gridCol w="2286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 Semibold"/>
                        </a:rPr>
                        <a:t>Concepto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 Semibold"/>
                        </a:rPr>
                        <a:t>Costo (MXN)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2 cámaras Hikvision DS-2CD1063G2-LIU (6 MP)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$4,608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1 nodo con GPU RTX 4050 (laptop o equipo similar)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$17,000 – $26,000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Software GOSS IP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Propio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Switch PoE, cableado e instalación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Por cotizar en sitio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Total de equipo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$21,600 – $30,600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663440"/>
            <a:ext cx="6949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AA9BC"/>
                </a:solidFill>
                <a:latin typeface="Segoe UI"/>
              </a:rPr>
              <a:t>Precios publicados el 6 de octubre de 2026 en hikvision-store.mx (cámara) y en Mercado Libre, Amazon y Cyberpuerta (laptops con RTX 4050).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783080"/>
            <a:ext cx="3886200" cy="42062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96596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6CC8F5"/>
                </a:solidFill>
                <a:latin typeface="Segoe UI Semibold"/>
              </a:rPr>
              <a:t>Para crecer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2468880"/>
            <a:ext cx="34747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"/>
              </a:rPr>
              <a:t>Un nodo más cada 2 cámaras con todo activo (medido).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"/>
              </a:rPr>
              <a:t>Más cámaras por nodo si solo leen placas o solo movimiento.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"/>
              </a:rPr>
              <a:t>API en varios procesos con PostgreSQL y Redis.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"/>
              </a:rPr>
              <a:t>Despliegue con Docker y HTTPS.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Próximos pasos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64240" cy="804672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6420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2F6FED"/>
                </a:solidFill>
                <a:latin typeface="Segoe UI Semibold"/>
              </a:rPr>
              <a:t>Piloto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682496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Un acceso real de un campus, con aviso de privacidad y reglas acordadas con seguridad.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23160"/>
            <a:ext cx="11064240" cy="804672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6CC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6CC8F5"/>
                </a:solidFill>
                <a:latin typeface="Segoe UI Semibold"/>
              </a:rPr>
              <a:t>Calibrar rostros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642616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Umbral medido con personas reales que den su consentimiento.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83280"/>
            <a:ext cx="11064240" cy="804672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0A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F0A83A"/>
                </a:solidFill>
                <a:latin typeface="Segoe UI Semibold"/>
              </a:rPr>
              <a:t>Modelo de armas propio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602736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Con el dataset que ya junta el sistema de las alertas calificadas.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43400"/>
            <a:ext cx="11064240" cy="804672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54456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34D399"/>
                </a:solidFill>
                <a:latin typeface="Segoe UI Semibold"/>
              </a:rPr>
              <a:t>Licencias comerciales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562856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YOLO: AGPL o licencia Enterprise. Rostros: buffalo_l es no comercial → AuraFace (Apache-2.0).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03520"/>
            <a:ext cx="11064240" cy="804672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0468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2F6FED"/>
                </a:solidFill>
                <a:latin typeface="Segoe UI Semibold"/>
              </a:rPr>
              <a:t>Integración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5522976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EEF3F8"/>
                </a:solidFill>
                <a:latin typeface="Segoe UI"/>
              </a:rPr>
              <a:t>Centros de monitoreo tipo C5 por webhook; avisos en una app móvil.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ansparent over 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640080"/>
            <a:ext cx="3657600" cy="3657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4348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3000" b="0">
                <a:solidFill>
                  <a:srgbClr val="EEF3F8"/>
                </a:solidFill>
                <a:latin typeface="Segoe UI Semibold"/>
              </a:rPr>
              <a:t>Cada cámara, un par de ojos que no se cansa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2120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>
                <a:solidFill>
                  <a:srgbClr val="6CC8F5"/>
                </a:solidFill>
                <a:latin typeface="Segoe UI"/>
              </a:rPr>
              <a:t>Gracias · Preguntas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github.com/Michou001/Sistema-videovigilancia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Anexo · Lectura de placas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El lente manda más que el 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56692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 Semibold"/>
              </a:rPr>
              <a:t>Detección: </a:t>
            </a:r>
            <a:r>
              <a:rPr sz="1400">
                <a:solidFill>
                  <a:srgbClr val="EEF3F8"/>
                </a:solidFill>
                <a:latin typeface="Segoe UI"/>
              </a:rPr>
              <a:t>YOLOv9 entrenado solo con placas (ONNX).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 Semibold"/>
              </a:rPr>
              <a:t>Seguimiento: </a:t>
            </a:r>
            <a:r>
              <a:rPr sz="1400">
                <a:solidFill>
                  <a:srgbClr val="EEF3F8"/>
                </a:solidFill>
                <a:latin typeface="Segoe UI"/>
              </a:rPr>
              <a:t>un vehículo = un evento, con la mejor lectura.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 Semibold"/>
              </a:rPr>
              <a:t>OCR de placas: </a:t>
            </a:r>
            <a:r>
              <a:rPr sz="1400">
                <a:solidFill>
                  <a:srgbClr val="EEF3F8"/>
                </a:solidFill>
                <a:latin typeface="Segoe UI"/>
              </a:rPr>
              <a:t>modelo entrenado con placas, menos de 1 ms por lectura; hasta 10 lecturas por vehículo.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 Semibold"/>
              </a:rPr>
              <a:t>Formato mexicano: </a:t>
            </a:r>
            <a:r>
              <a:rPr sz="1400">
                <a:solidFill>
                  <a:srgbClr val="EEF3F8"/>
                </a:solidFill>
                <a:latin typeface="Segoe UI"/>
              </a:rPr>
              <a:t>cada formato dice qué posición es letra o dígito: A8C-I23 → ABC-123.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 Semibold"/>
              </a:rPr>
              <a:t>Consenso: </a:t>
            </a:r>
            <a:r>
              <a:rPr sz="1400">
                <a:solidFill>
                  <a:srgbClr val="EEF3F8"/>
                </a:solidFill>
                <a:latin typeface="Segoe UI"/>
              </a:rPr>
              <a:t>voto por carácter entre lecturas; recupera la placa aunque ningún cuadro la lea completa.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 Semibold"/>
              </a:rPr>
              <a:t>Placas extranjeras: </a:t>
            </a:r>
            <a:r>
              <a:rPr sz="1400">
                <a:solidFill>
                  <a:srgbClr val="EEF3F8"/>
                </a:solidFill>
                <a:latin typeface="Segoe UI"/>
              </a:rPr>
              <a:t>no se fuerzan al formato mexicano.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92240" y="1783080"/>
          <a:ext cx="512064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920240"/>
                <a:gridCol w="192024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 Semibold"/>
                        </a:rPr>
                        <a:t>Lente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 Semibold"/>
                        </a:rPr>
                        <a:t>Sub-stream 1280 px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 Semibold"/>
                        </a:rPr>
                        <a:t>Principal 3200 px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2.8 mm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4.1 m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10.2 m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4 mm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6.0 m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15.1 m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6 mm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10.6 m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EF3F8"/>
                          </a:solidFill>
                          <a:latin typeface="Segoe UI"/>
                        </a:rPr>
                        <a:t>26.6 m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92240" y="3703320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9BC"/>
                </a:solidFill>
                <a:latin typeface="Segoe UI"/>
              </a:rPr>
              <a:t>Distancia máxima de lectura con la placa de frente (umbral medido: 36 px de ancho). En 45° se multiplica por 0.7; para instalar se pide el doble de píxeles.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Anexo · Recomendador de instalación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Reglas explicables: geometría del lente y umbrales medidos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188720"/>
                <a:gridCol w="210312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Nivel DORI (IEC 62676-4)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px por metro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 Semibold"/>
                        </a:rPr>
                        <a:t>Qué permite</a:t>
                      </a:r>
                    </a:p>
                  </a:txBody>
                  <a:tcPr marL="91440" marR="91440" marT="36576" marB="36576" anchor="ctr">
                    <a:solidFill>
                      <a:srgbClr val="2F6FE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Detección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Movimiento, zonas, conteo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Observación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62.5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Caída y posturas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Reconocimiento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125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Reconocer a alguien conocido</a:t>
                      </a:r>
                    </a:p>
                  </a:txBody>
                  <a:tcPr marL="91440" marR="91440" marT="36576" marB="36576" anchor="ctr">
                    <a:solidFill>
                      <a:srgbClr val="16213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Identificación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250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EF3F8"/>
                          </a:solidFill>
                          <a:latin typeface="Segoe UI"/>
                        </a:rPr>
                        <a:t>Identificar sin duda</a:t>
                      </a:r>
                    </a:p>
                  </a:txBody>
                  <a:tcPr marL="91440" marR="91440" marT="36576" marB="36576" anchor="ctr">
                    <a:solidFill>
                      <a:srgbClr val="0E152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783080"/>
            <a:ext cx="52120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"/>
              </a:rPr>
              <a:t>Entrada: función, altura, distancia, lente o campo de visión, resolución del stream.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"/>
              </a:rPr>
              <a:t>Salida: px por metro, px de placa y de rostro, ángulo vertical, alcance y nivel DORI.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"/>
              </a:rPr>
              <a:t>Placa ≥ 36 px y rostro ≥ 50 px (umbrales del sistema); para instalar, el doble.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"/>
              </a:rPr>
              <a:t>Advierte ángulo vertical alto, H.265 sin WebRTC, cámara al alcance de la mano.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6CC8F5"/>
                </a:solidFill>
                <a:latin typeface="Segoe UI"/>
              </a:rPr>
              <a:t>▪  </a:t>
            </a:r>
            <a:r>
              <a:rPr sz="1400">
                <a:solidFill>
                  <a:srgbClr val="EEF3F8"/>
                </a:solidFill>
                <a:latin typeface="Segoe UI"/>
              </a:rPr>
              <a:t>Lo que no se puede saber sin ir al sitio sale como validación pendiente: noche, reflejo del IR, vehículos rápidos.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5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GOSS IP · Reto InnovaTIC's UAEMéx 2026 ·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400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AA9BC"/>
                </a:solidFill>
                <a:latin typeface="Segoe UI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EEF3F8"/>
                </a:solidFill>
                <a:latin typeface="Segoe UI Semibold"/>
              </a:rPr>
              <a:t>Anexo · Plan de contingencia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9BC"/>
                </a:solidFill>
                <a:latin typeface="Segoe UI"/>
              </a:rPr>
              <a:t>La demo no depende de internet ni de un solo equipo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566160" cy="32918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34D399"/>
                </a:solidFill>
                <a:latin typeface="Segoe UI Semibold"/>
              </a:rPr>
              <a:t>Plan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Todo en vivo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17520"/>
            <a:ext cx="31089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Cámara Hikvision del stand → laptop → dashboard. Sin internet: todo corre en la red local.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783080"/>
            <a:ext cx="3566160" cy="32918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0A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96596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0A83A"/>
                </a:solidFill>
                <a:latin typeface="Segoe UI Semibold"/>
              </a:rPr>
              <a:t>Plan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5146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Video local como cámara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3017520"/>
            <a:ext cx="31089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Si falla la cámara o la red: un video grabado del ensayo entra como cámara (en bucle y a velocidad real). El resto del sistema es el mismo.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1783080"/>
            <a:ext cx="3566160" cy="3291840"/>
          </a:xfrm>
          <a:prstGeom prst="roundRect">
            <a:avLst>
              <a:gd name="adj" fmla="val 7000"/>
            </a:avLst>
          </a:prstGeom>
          <a:solidFill>
            <a:srgbClr val="16213A"/>
          </a:solidFill>
          <a:ln w="19050">
            <a:solidFill>
              <a:srgbClr val="FF5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1896" y="196596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5A6A"/>
                </a:solidFill>
                <a:latin typeface="Segoe UI Semibold"/>
              </a:rPr>
              <a:t>Plan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25146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EF3F8"/>
                </a:solidFill>
                <a:latin typeface="Segoe UI Semibold"/>
              </a:rPr>
              <a:t>Registro del ensayo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3017520"/>
            <a:ext cx="31089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Si falla la GPU: el dashboard con las alertas, fotos y clips del ensayo, desde el respaldo.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49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A9BC"/>
                </a:solidFill>
                <a:latin typeface="Segoe UI"/>
              </a:rPr>
              <a:t>Respaldo del código, la configuración y los datos en otra memoria USB y en la nube (tools/respaldo.py). Segunda laptop con el sistema instalado.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